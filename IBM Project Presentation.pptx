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7"/>
    </p:embeddedFont>
    <p:embeddedFont>
      <p:font typeface="Plus Jakarta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6054BA-5118-45A5-95E3-764B50BFCD1B}">
  <a:tblStyle styleId="{EB6054BA-5118-45A5-95E3-764B50BFCD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42" y="-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7b47a12da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7b47a12da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7b47a12dae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7b47a12dae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7b47a12dae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7b47a12dae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7b47a12dae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7b47a12dae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7b47a12da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7b47a12da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7bff2869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7bff2869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7bff286979_0_31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7bff286979_0_31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7bff28697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7bff28697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7bff28697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7bff28697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7bff28697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7bff28697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7bff286979_0_3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7bff286979_0_3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7bff28697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7bff28697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570475"/>
            <a:ext cx="4410000" cy="15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163525"/>
            <a:ext cx="4410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1150" y="-250050"/>
            <a:ext cx="5491800" cy="56436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2" name="Google Shape;12;p2"/>
          <p:cNvGrpSpPr/>
          <p:nvPr/>
        </p:nvGrpSpPr>
        <p:grpSpPr>
          <a:xfrm>
            <a:off x="202743" y="174083"/>
            <a:ext cx="903232" cy="231517"/>
            <a:chOff x="4476100" y="780600"/>
            <a:chExt cx="1408000" cy="360900"/>
          </a:xfrm>
        </p:grpSpPr>
        <p:sp>
          <p:nvSpPr>
            <p:cNvPr id="13" name="Google Shape;13;p2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5493292" y="4815258"/>
            <a:ext cx="903232" cy="231517"/>
            <a:chOff x="4476100" y="780600"/>
            <a:chExt cx="1408000" cy="360900"/>
          </a:xfrm>
        </p:grpSpPr>
        <p:sp>
          <p:nvSpPr>
            <p:cNvPr id="17" name="Google Shape;17;p2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-674475" y="4119375"/>
            <a:ext cx="1354200" cy="1354200"/>
            <a:chOff x="-674475" y="4119375"/>
            <a:chExt cx="1354200" cy="1354200"/>
          </a:xfrm>
        </p:grpSpPr>
        <p:sp>
          <p:nvSpPr>
            <p:cNvPr id="21" name="Google Shape;21;p2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193075" y="2087100"/>
            <a:ext cx="3000000" cy="13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2848600" y="1124900"/>
            <a:ext cx="1344600" cy="11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1193050" y="3440200"/>
            <a:ext cx="3000000" cy="5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>
            <a:off x="5325100" y="-554550"/>
            <a:ext cx="5225700" cy="62526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8" name="Google Shape;28;p3"/>
          <p:cNvGrpSpPr/>
          <p:nvPr/>
        </p:nvGrpSpPr>
        <p:grpSpPr>
          <a:xfrm>
            <a:off x="202743" y="174083"/>
            <a:ext cx="903232" cy="231517"/>
            <a:chOff x="4476100" y="780600"/>
            <a:chExt cx="1408000" cy="360900"/>
          </a:xfrm>
        </p:grpSpPr>
        <p:sp>
          <p:nvSpPr>
            <p:cNvPr id="29" name="Google Shape;29;p3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-575967" y="4386215"/>
            <a:ext cx="1490823" cy="1490823"/>
            <a:chOff x="5574901" y="405600"/>
            <a:chExt cx="1047000" cy="1047000"/>
          </a:xfrm>
        </p:grpSpPr>
        <p:sp>
          <p:nvSpPr>
            <p:cNvPr id="33" name="Google Shape;33;p3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4983892" y="4815258"/>
            <a:ext cx="903232" cy="231517"/>
            <a:chOff x="4476100" y="780600"/>
            <a:chExt cx="1408000" cy="360900"/>
          </a:xfrm>
        </p:grpSpPr>
        <p:sp>
          <p:nvSpPr>
            <p:cNvPr id="36" name="Google Shape;36;p3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 rot="10800000">
            <a:off x="155750" y="4782183"/>
            <a:ext cx="903232" cy="231517"/>
            <a:chOff x="4476100" y="780600"/>
            <a:chExt cx="1408000" cy="360900"/>
          </a:xfrm>
        </p:grpSpPr>
        <p:sp>
          <p:nvSpPr>
            <p:cNvPr id="43" name="Google Shape;43;p4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4"/>
          <p:cNvGrpSpPr/>
          <p:nvPr/>
        </p:nvGrpSpPr>
        <p:grpSpPr>
          <a:xfrm rot="10800000">
            <a:off x="7556248" y="4160835"/>
            <a:ext cx="1532494" cy="1532494"/>
            <a:chOff x="5574901" y="405600"/>
            <a:chExt cx="1047000" cy="1047000"/>
          </a:xfrm>
        </p:grpSpPr>
        <p:sp>
          <p:nvSpPr>
            <p:cNvPr id="47" name="Google Shape;47;p4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4"/>
          <p:cNvSpPr/>
          <p:nvPr/>
        </p:nvSpPr>
        <p:spPr>
          <a:xfrm>
            <a:off x="-2641300" y="317708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4"/>
          <p:cNvGrpSpPr/>
          <p:nvPr/>
        </p:nvGrpSpPr>
        <p:grpSpPr>
          <a:xfrm rot="10800000">
            <a:off x="8428900" y="-142092"/>
            <a:ext cx="1354200" cy="1354200"/>
            <a:chOff x="-674475" y="4119375"/>
            <a:chExt cx="1354200" cy="1354200"/>
          </a:xfrm>
        </p:grpSpPr>
        <p:sp>
          <p:nvSpPr>
            <p:cNvPr id="51" name="Google Shape;51;p4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1141275" y="1796400"/>
            <a:ext cx="3208800" cy="22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4793924" y="1796400"/>
            <a:ext cx="3208800" cy="22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5"/>
          <p:cNvGrpSpPr/>
          <p:nvPr/>
        </p:nvGrpSpPr>
        <p:grpSpPr>
          <a:xfrm>
            <a:off x="8091318" y="174083"/>
            <a:ext cx="903232" cy="231517"/>
            <a:chOff x="4476100" y="780600"/>
            <a:chExt cx="1408000" cy="360900"/>
          </a:xfrm>
        </p:grpSpPr>
        <p:sp>
          <p:nvSpPr>
            <p:cNvPr id="58" name="Google Shape;58;p5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61;p5"/>
          <p:cNvGrpSpPr/>
          <p:nvPr/>
        </p:nvGrpSpPr>
        <p:grpSpPr>
          <a:xfrm>
            <a:off x="8617126" y="3235600"/>
            <a:ext cx="1047000" cy="1047000"/>
            <a:chOff x="5574901" y="405600"/>
            <a:chExt cx="1047000" cy="1047000"/>
          </a:xfrm>
        </p:grpSpPr>
        <p:sp>
          <p:nvSpPr>
            <p:cNvPr id="62" name="Google Shape;62;p5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5"/>
          <p:cNvSpPr/>
          <p:nvPr/>
        </p:nvSpPr>
        <p:spPr>
          <a:xfrm rot="10800000">
            <a:off x="-1872575" y="-1504800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" name="Google Shape;65;p5"/>
          <p:cNvGrpSpPr/>
          <p:nvPr/>
        </p:nvGrpSpPr>
        <p:grpSpPr>
          <a:xfrm>
            <a:off x="123392" y="4815258"/>
            <a:ext cx="903232" cy="231517"/>
            <a:chOff x="4476100" y="780600"/>
            <a:chExt cx="1408000" cy="360900"/>
          </a:xfrm>
        </p:grpSpPr>
        <p:sp>
          <p:nvSpPr>
            <p:cNvPr id="66" name="Google Shape;66;p5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69;p5"/>
          <p:cNvGrpSpPr/>
          <p:nvPr/>
        </p:nvGrpSpPr>
        <p:grpSpPr>
          <a:xfrm>
            <a:off x="3894900" y="4551900"/>
            <a:ext cx="1354200" cy="1354200"/>
            <a:chOff x="-674475" y="4119375"/>
            <a:chExt cx="1354200" cy="1354200"/>
          </a:xfrm>
        </p:grpSpPr>
        <p:sp>
          <p:nvSpPr>
            <p:cNvPr id="70" name="Google Shape;70;p5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1"/>
          </p:nvPr>
        </p:nvSpPr>
        <p:spPr>
          <a:xfrm>
            <a:off x="4405800" y="2062175"/>
            <a:ext cx="3699900" cy="17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8" name="Google Shape;88;p7"/>
          <p:cNvGrpSpPr/>
          <p:nvPr/>
        </p:nvGrpSpPr>
        <p:grpSpPr>
          <a:xfrm flipH="1">
            <a:off x="155750" y="156538"/>
            <a:ext cx="903232" cy="231517"/>
            <a:chOff x="4476100" y="780600"/>
            <a:chExt cx="1408000" cy="360900"/>
          </a:xfrm>
        </p:grpSpPr>
        <p:sp>
          <p:nvSpPr>
            <p:cNvPr id="89" name="Google Shape;89;p7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7"/>
          <p:cNvGrpSpPr/>
          <p:nvPr/>
        </p:nvGrpSpPr>
        <p:grpSpPr>
          <a:xfrm flipH="1">
            <a:off x="7556248" y="-523092"/>
            <a:ext cx="1532494" cy="1532494"/>
            <a:chOff x="5574901" y="405600"/>
            <a:chExt cx="1047000" cy="1047000"/>
          </a:xfrm>
        </p:grpSpPr>
        <p:sp>
          <p:nvSpPr>
            <p:cNvPr id="93" name="Google Shape;93;p7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7"/>
          <p:cNvSpPr/>
          <p:nvPr/>
        </p:nvSpPr>
        <p:spPr>
          <a:xfrm rot="10800000" flipH="1">
            <a:off x="-2641300" y="1895129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 flipH="1">
            <a:off x="8428900" y="3958129"/>
            <a:ext cx="1354200" cy="1354200"/>
            <a:chOff x="-674475" y="4119375"/>
            <a:chExt cx="1354200" cy="1354200"/>
          </a:xfrm>
        </p:grpSpPr>
        <p:sp>
          <p:nvSpPr>
            <p:cNvPr id="97" name="Google Shape;97;p7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>
            <a:spLocks noGrp="1"/>
          </p:cNvSpPr>
          <p:nvPr>
            <p:ph type="pic" idx="2"/>
          </p:nvPr>
        </p:nvSpPr>
        <p:spPr>
          <a:xfrm>
            <a:off x="801313" y="1192325"/>
            <a:ext cx="3510000" cy="3508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4480025" y="1667838"/>
            <a:ext cx="3314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4480025" y="2649163"/>
            <a:ext cx="3314100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9"/>
          <p:cNvSpPr>
            <a:spLocks noGrp="1"/>
          </p:cNvSpPr>
          <p:nvPr>
            <p:ph type="pic" idx="2"/>
          </p:nvPr>
        </p:nvSpPr>
        <p:spPr>
          <a:xfrm>
            <a:off x="-1520925" y="-502475"/>
            <a:ext cx="5138700" cy="61485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16" name="Google Shape;116;p9"/>
          <p:cNvGrpSpPr/>
          <p:nvPr/>
        </p:nvGrpSpPr>
        <p:grpSpPr>
          <a:xfrm>
            <a:off x="8055943" y="174083"/>
            <a:ext cx="903232" cy="231517"/>
            <a:chOff x="4476100" y="780600"/>
            <a:chExt cx="1408000" cy="360900"/>
          </a:xfrm>
        </p:grpSpPr>
        <p:sp>
          <p:nvSpPr>
            <p:cNvPr id="117" name="Google Shape;117;p9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" name="Google Shape;120;p9"/>
          <p:cNvGrpSpPr/>
          <p:nvPr/>
        </p:nvGrpSpPr>
        <p:grpSpPr>
          <a:xfrm>
            <a:off x="3101942" y="4772808"/>
            <a:ext cx="903232" cy="231517"/>
            <a:chOff x="4476100" y="780600"/>
            <a:chExt cx="1408000" cy="360900"/>
          </a:xfrm>
        </p:grpSpPr>
        <p:sp>
          <p:nvSpPr>
            <p:cNvPr id="121" name="Google Shape;121;p9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9"/>
          <p:cNvGrpSpPr/>
          <p:nvPr/>
        </p:nvGrpSpPr>
        <p:grpSpPr>
          <a:xfrm>
            <a:off x="8176269" y="3620074"/>
            <a:ext cx="1976861" cy="1976861"/>
            <a:chOff x="-674475" y="4119375"/>
            <a:chExt cx="1354200" cy="1354200"/>
          </a:xfrm>
        </p:grpSpPr>
        <p:sp>
          <p:nvSpPr>
            <p:cNvPr id="125" name="Google Shape;125;p9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>
            <a:spLocks noGrp="1"/>
          </p:cNvSpPr>
          <p:nvPr>
            <p:ph type="title" hasCustomPrompt="1"/>
          </p:nvPr>
        </p:nvSpPr>
        <p:spPr>
          <a:xfrm>
            <a:off x="1272113" y="1147025"/>
            <a:ext cx="13269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"/>
          </p:nvPr>
        </p:nvSpPr>
        <p:spPr>
          <a:xfrm>
            <a:off x="720075" y="2294803"/>
            <a:ext cx="2430900" cy="58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 idx="2" hasCustomPrompt="1"/>
          </p:nvPr>
        </p:nvSpPr>
        <p:spPr>
          <a:xfrm>
            <a:off x="3908588" y="1147025"/>
            <a:ext cx="13269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3"/>
          </p:nvPr>
        </p:nvSpPr>
        <p:spPr>
          <a:xfrm>
            <a:off x="3356550" y="2294803"/>
            <a:ext cx="2430900" cy="58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4" hasCustomPrompt="1"/>
          </p:nvPr>
        </p:nvSpPr>
        <p:spPr>
          <a:xfrm>
            <a:off x="6545063" y="1147025"/>
            <a:ext cx="13269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5"/>
          </p:nvPr>
        </p:nvSpPr>
        <p:spPr>
          <a:xfrm>
            <a:off x="5993025" y="2294803"/>
            <a:ext cx="2430900" cy="58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6" hasCustomPrompt="1"/>
          </p:nvPr>
        </p:nvSpPr>
        <p:spPr>
          <a:xfrm>
            <a:off x="2590351" y="2876199"/>
            <a:ext cx="13269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7"/>
          </p:nvPr>
        </p:nvSpPr>
        <p:spPr>
          <a:xfrm>
            <a:off x="2038313" y="4024827"/>
            <a:ext cx="2430900" cy="58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8" hasCustomPrompt="1"/>
          </p:nvPr>
        </p:nvSpPr>
        <p:spPr>
          <a:xfrm>
            <a:off x="5226826" y="2876199"/>
            <a:ext cx="1326900" cy="5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9"/>
          </p:nvPr>
        </p:nvSpPr>
        <p:spPr>
          <a:xfrm>
            <a:off x="4674788" y="4024827"/>
            <a:ext cx="2430900" cy="58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1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14"/>
          </p:nvPr>
        </p:nvSpPr>
        <p:spPr>
          <a:xfrm>
            <a:off x="720075" y="1627137"/>
            <a:ext cx="2430900" cy="75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15"/>
          </p:nvPr>
        </p:nvSpPr>
        <p:spPr>
          <a:xfrm>
            <a:off x="3356550" y="1627137"/>
            <a:ext cx="2430900" cy="75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6"/>
          </p:nvPr>
        </p:nvSpPr>
        <p:spPr>
          <a:xfrm>
            <a:off x="5993025" y="1627137"/>
            <a:ext cx="2430900" cy="75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7"/>
          </p:nvPr>
        </p:nvSpPr>
        <p:spPr>
          <a:xfrm>
            <a:off x="2038313" y="3357065"/>
            <a:ext cx="2430900" cy="75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8"/>
          </p:nvPr>
        </p:nvSpPr>
        <p:spPr>
          <a:xfrm>
            <a:off x="4674788" y="3357065"/>
            <a:ext cx="2430900" cy="75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0" name="Google Shape;160;p13"/>
          <p:cNvGrpSpPr/>
          <p:nvPr/>
        </p:nvGrpSpPr>
        <p:grpSpPr>
          <a:xfrm>
            <a:off x="202743" y="174083"/>
            <a:ext cx="903232" cy="231517"/>
            <a:chOff x="4476100" y="780600"/>
            <a:chExt cx="1408000" cy="360900"/>
          </a:xfrm>
        </p:grpSpPr>
        <p:sp>
          <p:nvSpPr>
            <p:cNvPr id="161" name="Google Shape;161;p13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-825697" y="3386284"/>
            <a:ext cx="1509774" cy="1509774"/>
            <a:chOff x="5574901" y="405600"/>
            <a:chExt cx="1047000" cy="1047000"/>
          </a:xfrm>
        </p:grpSpPr>
        <p:sp>
          <p:nvSpPr>
            <p:cNvPr id="165" name="Google Shape;165;p13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13"/>
          <p:cNvSpPr/>
          <p:nvPr/>
        </p:nvSpPr>
        <p:spPr>
          <a:xfrm rot="10800000">
            <a:off x="8056025" y="-1490375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3"/>
          <p:cNvGrpSpPr/>
          <p:nvPr/>
        </p:nvGrpSpPr>
        <p:grpSpPr>
          <a:xfrm>
            <a:off x="8111042" y="4815258"/>
            <a:ext cx="903232" cy="231517"/>
            <a:chOff x="4476100" y="780600"/>
            <a:chExt cx="1408000" cy="360900"/>
          </a:xfrm>
        </p:grpSpPr>
        <p:sp>
          <p:nvSpPr>
            <p:cNvPr id="169" name="Google Shape;169;p13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>
            <a:off x="442499" y="4775806"/>
            <a:ext cx="903232" cy="231517"/>
            <a:chOff x="4476100" y="780600"/>
            <a:chExt cx="1408000" cy="360900"/>
          </a:xfrm>
        </p:grpSpPr>
        <p:sp>
          <p:nvSpPr>
            <p:cNvPr id="218" name="Google Shape;218;p17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" name="Google Shape;221;p17"/>
          <p:cNvGrpSpPr/>
          <p:nvPr/>
        </p:nvGrpSpPr>
        <p:grpSpPr>
          <a:xfrm>
            <a:off x="8630330" y="2680538"/>
            <a:ext cx="1047000" cy="1047000"/>
            <a:chOff x="5574901" y="405600"/>
            <a:chExt cx="1047000" cy="1047000"/>
          </a:xfrm>
        </p:grpSpPr>
        <p:sp>
          <p:nvSpPr>
            <p:cNvPr id="222" name="Google Shape;222;p17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" name="Google Shape;224;p17"/>
          <p:cNvSpPr/>
          <p:nvPr/>
        </p:nvSpPr>
        <p:spPr>
          <a:xfrm rot="10800000">
            <a:off x="8424000" y="2372550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17"/>
          <p:cNvGrpSpPr/>
          <p:nvPr/>
        </p:nvGrpSpPr>
        <p:grpSpPr>
          <a:xfrm>
            <a:off x="-674475" y="3966975"/>
            <a:ext cx="1354200" cy="1354200"/>
            <a:chOff x="-674475" y="4119375"/>
            <a:chExt cx="1354200" cy="1354200"/>
          </a:xfrm>
        </p:grpSpPr>
        <p:sp>
          <p:nvSpPr>
            <p:cNvPr id="226" name="Google Shape;226;p17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>
            <a:spLocks noGrp="1"/>
          </p:cNvSpPr>
          <p:nvPr>
            <p:ph type="subTitle" idx="1"/>
          </p:nvPr>
        </p:nvSpPr>
        <p:spPr>
          <a:xfrm>
            <a:off x="1793889" y="2219725"/>
            <a:ext cx="2461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subTitle" idx="2"/>
          </p:nvPr>
        </p:nvSpPr>
        <p:spPr>
          <a:xfrm>
            <a:off x="4888296" y="2219725"/>
            <a:ext cx="2461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subTitle" idx="3"/>
          </p:nvPr>
        </p:nvSpPr>
        <p:spPr>
          <a:xfrm>
            <a:off x="1793906" y="2792425"/>
            <a:ext cx="24618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4"/>
          <p:cNvSpPr txBox="1">
            <a:spLocks noGrp="1"/>
          </p:cNvSpPr>
          <p:nvPr>
            <p:ph type="subTitle" idx="4"/>
          </p:nvPr>
        </p:nvSpPr>
        <p:spPr>
          <a:xfrm>
            <a:off x="4888311" y="2792425"/>
            <a:ext cx="24618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p24"/>
          <p:cNvGrpSpPr/>
          <p:nvPr/>
        </p:nvGrpSpPr>
        <p:grpSpPr>
          <a:xfrm rot="10800000">
            <a:off x="155750" y="4782183"/>
            <a:ext cx="903232" cy="231517"/>
            <a:chOff x="4476100" y="780600"/>
            <a:chExt cx="1408000" cy="360900"/>
          </a:xfrm>
        </p:grpSpPr>
        <p:sp>
          <p:nvSpPr>
            <p:cNvPr id="323" name="Google Shape;323;p24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" name="Google Shape;326;p24"/>
          <p:cNvGrpSpPr/>
          <p:nvPr/>
        </p:nvGrpSpPr>
        <p:grpSpPr>
          <a:xfrm rot="10800000">
            <a:off x="7556248" y="4160835"/>
            <a:ext cx="1532494" cy="1532494"/>
            <a:chOff x="5574901" y="405600"/>
            <a:chExt cx="1047000" cy="1047000"/>
          </a:xfrm>
        </p:grpSpPr>
        <p:sp>
          <p:nvSpPr>
            <p:cNvPr id="327" name="Google Shape;327;p24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" name="Google Shape;329;p24"/>
          <p:cNvSpPr/>
          <p:nvPr/>
        </p:nvSpPr>
        <p:spPr>
          <a:xfrm>
            <a:off x="-2641300" y="317708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" name="Google Shape;330;p24"/>
          <p:cNvGrpSpPr/>
          <p:nvPr/>
        </p:nvGrpSpPr>
        <p:grpSpPr>
          <a:xfrm rot="10800000">
            <a:off x="8428900" y="-142092"/>
            <a:ext cx="1354200" cy="1354200"/>
            <a:chOff x="-674475" y="4119375"/>
            <a:chExt cx="1354200" cy="1354200"/>
          </a:xfrm>
        </p:grpSpPr>
        <p:sp>
          <p:nvSpPr>
            <p:cNvPr id="331" name="Google Shape;331;p24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>
            <a:spLocks noGrp="1"/>
          </p:cNvSpPr>
          <p:nvPr>
            <p:ph type="subTitle" idx="1"/>
          </p:nvPr>
        </p:nvSpPr>
        <p:spPr>
          <a:xfrm>
            <a:off x="1024800" y="270582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26"/>
          <p:cNvSpPr txBox="1">
            <a:spLocks noGrp="1"/>
          </p:cNvSpPr>
          <p:nvPr>
            <p:ph type="subTitle" idx="2"/>
          </p:nvPr>
        </p:nvSpPr>
        <p:spPr>
          <a:xfrm>
            <a:off x="1024800" y="3190624"/>
            <a:ext cx="2336400" cy="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6"/>
          <p:cNvSpPr txBox="1">
            <a:spLocks noGrp="1"/>
          </p:cNvSpPr>
          <p:nvPr>
            <p:ph type="subTitle" idx="3"/>
          </p:nvPr>
        </p:nvSpPr>
        <p:spPr>
          <a:xfrm>
            <a:off x="3403800" y="2276224"/>
            <a:ext cx="2336400" cy="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6"/>
          <p:cNvSpPr txBox="1">
            <a:spLocks noGrp="1"/>
          </p:cNvSpPr>
          <p:nvPr>
            <p:ph type="subTitle" idx="4"/>
          </p:nvPr>
        </p:nvSpPr>
        <p:spPr>
          <a:xfrm>
            <a:off x="5782800" y="3190624"/>
            <a:ext cx="2336400" cy="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6"/>
          <p:cNvSpPr txBox="1">
            <a:spLocks noGrp="1"/>
          </p:cNvSpPr>
          <p:nvPr>
            <p:ph type="subTitle" idx="5"/>
          </p:nvPr>
        </p:nvSpPr>
        <p:spPr>
          <a:xfrm>
            <a:off x="3403800" y="179142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9" name="Google Shape;359;p26"/>
          <p:cNvSpPr txBox="1">
            <a:spLocks noGrp="1"/>
          </p:cNvSpPr>
          <p:nvPr>
            <p:ph type="subTitle" idx="6"/>
          </p:nvPr>
        </p:nvSpPr>
        <p:spPr>
          <a:xfrm>
            <a:off x="5782800" y="270582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60" name="Google Shape;360;p26"/>
          <p:cNvGrpSpPr/>
          <p:nvPr/>
        </p:nvGrpSpPr>
        <p:grpSpPr>
          <a:xfrm>
            <a:off x="202743" y="174083"/>
            <a:ext cx="903232" cy="231517"/>
            <a:chOff x="4476100" y="780600"/>
            <a:chExt cx="1408000" cy="360900"/>
          </a:xfrm>
        </p:grpSpPr>
        <p:sp>
          <p:nvSpPr>
            <p:cNvPr id="361" name="Google Shape;361;p26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26"/>
          <p:cNvGrpSpPr/>
          <p:nvPr/>
        </p:nvGrpSpPr>
        <p:grpSpPr>
          <a:xfrm>
            <a:off x="-825697" y="3386284"/>
            <a:ext cx="1509774" cy="1509774"/>
            <a:chOff x="5574901" y="405600"/>
            <a:chExt cx="1047000" cy="1047000"/>
          </a:xfrm>
        </p:grpSpPr>
        <p:sp>
          <p:nvSpPr>
            <p:cNvPr id="365" name="Google Shape;365;p26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" name="Google Shape;367;p26"/>
          <p:cNvSpPr/>
          <p:nvPr/>
        </p:nvSpPr>
        <p:spPr>
          <a:xfrm rot="10800000">
            <a:off x="8056025" y="-1490375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26"/>
          <p:cNvGrpSpPr/>
          <p:nvPr/>
        </p:nvGrpSpPr>
        <p:grpSpPr>
          <a:xfrm>
            <a:off x="8111042" y="4815258"/>
            <a:ext cx="903232" cy="231517"/>
            <a:chOff x="4476100" y="780600"/>
            <a:chExt cx="1408000" cy="360900"/>
          </a:xfrm>
        </p:grpSpPr>
        <p:sp>
          <p:nvSpPr>
            <p:cNvPr id="369" name="Google Shape;369;p26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>
            <a:spLocks noGrp="1"/>
          </p:cNvSpPr>
          <p:nvPr>
            <p:ph type="subTitle" idx="1"/>
          </p:nvPr>
        </p:nvSpPr>
        <p:spPr>
          <a:xfrm>
            <a:off x="1951806" y="1555975"/>
            <a:ext cx="2225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6" name="Google Shape;396;p28"/>
          <p:cNvSpPr txBox="1">
            <a:spLocks noGrp="1"/>
          </p:cNvSpPr>
          <p:nvPr>
            <p:ph type="subTitle" idx="2"/>
          </p:nvPr>
        </p:nvSpPr>
        <p:spPr>
          <a:xfrm>
            <a:off x="1951797" y="2040775"/>
            <a:ext cx="2225100" cy="64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8"/>
          <p:cNvSpPr txBox="1">
            <a:spLocks noGrp="1"/>
          </p:cNvSpPr>
          <p:nvPr>
            <p:ph type="subTitle" idx="3"/>
          </p:nvPr>
        </p:nvSpPr>
        <p:spPr>
          <a:xfrm>
            <a:off x="4967095" y="2040775"/>
            <a:ext cx="2225100" cy="64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subTitle" idx="4"/>
          </p:nvPr>
        </p:nvSpPr>
        <p:spPr>
          <a:xfrm>
            <a:off x="1951797" y="3430700"/>
            <a:ext cx="2225100" cy="64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8"/>
          <p:cNvSpPr txBox="1">
            <a:spLocks noGrp="1"/>
          </p:cNvSpPr>
          <p:nvPr>
            <p:ph type="subTitle" idx="5"/>
          </p:nvPr>
        </p:nvSpPr>
        <p:spPr>
          <a:xfrm>
            <a:off x="4967095" y="3430700"/>
            <a:ext cx="2225100" cy="64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28"/>
          <p:cNvSpPr txBox="1">
            <a:spLocks noGrp="1"/>
          </p:cNvSpPr>
          <p:nvPr>
            <p:ph type="subTitle" idx="6"/>
          </p:nvPr>
        </p:nvSpPr>
        <p:spPr>
          <a:xfrm>
            <a:off x="1951806" y="2945900"/>
            <a:ext cx="2225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28"/>
          <p:cNvSpPr txBox="1">
            <a:spLocks noGrp="1"/>
          </p:cNvSpPr>
          <p:nvPr>
            <p:ph type="subTitle" idx="7"/>
          </p:nvPr>
        </p:nvSpPr>
        <p:spPr>
          <a:xfrm>
            <a:off x="4967103" y="1555975"/>
            <a:ext cx="2225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28"/>
          <p:cNvSpPr txBox="1">
            <a:spLocks noGrp="1"/>
          </p:cNvSpPr>
          <p:nvPr>
            <p:ph type="subTitle" idx="8"/>
          </p:nvPr>
        </p:nvSpPr>
        <p:spPr>
          <a:xfrm>
            <a:off x="4967103" y="2945900"/>
            <a:ext cx="2225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04" name="Google Shape;404;p28"/>
          <p:cNvGrpSpPr/>
          <p:nvPr/>
        </p:nvGrpSpPr>
        <p:grpSpPr>
          <a:xfrm>
            <a:off x="8091318" y="174083"/>
            <a:ext cx="903232" cy="231517"/>
            <a:chOff x="4476100" y="780600"/>
            <a:chExt cx="1408000" cy="360900"/>
          </a:xfrm>
        </p:grpSpPr>
        <p:sp>
          <p:nvSpPr>
            <p:cNvPr id="405" name="Google Shape;405;p28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" name="Google Shape;408;p28"/>
          <p:cNvGrpSpPr/>
          <p:nvPr/>
        </p:nvGrpSpPr>
        <p:grpSpPr>
          <a:xfrm>
            <a:off x="8617126" y="3235600"/>
            <a:ext cx="1047000" cy="1047000"/>
            <a:chOff x="5574901" y="405600"/>
            <a:chExt cx="1047000" cy="1047000"/>
          </a:xfrm>
        </p:grpSpPr>
        <p:sp>
          <p:nvSpPr>
            <p:cNvPr id="409" name="Google Shape;409;p28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28"/>
          <p:cNvSpPr/>
          <p:nvPr/>
        </p:nvSpPr>
        <p:spPr>
          <a:xfrm rot="10800000">
            <a:off x="-1872575" y="-1504800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2" name="Google Shape;412;p28"/>
          <p:cNvGrpSpPr/>
          <p:nvPr/>
        </p:nvGrpSpPr>
        <p:grpSpPr>
          <a:xfrm>
            <a:off x="123392" y="4815258"/>
            <a:ext cx="903232" cy="231517"/>
            <a:chOff x="4476100" y="780600"/>
            <a:chExt cx="1408000" cy="360900"/>
          </a:xfrm>
        </p:grpSpPr>
        <p:sp>
          <p:nvSpPr>
            <p:cNvPr id="413" name="Google Shape;413;p28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" name="Google Shape;416;p28"/>
          <p:cNvGrpSpPr/>
          <p:nvPr/>
        </p:nvGrpSpPr>
        <p:grpSpPr>
          <a:xfrm>
            <a:off x="3894900" y="4551900"/>
            <a:ext cx="1354200" cy="1354200"/>
            <a:chOff x="-674475" y="4119375"/>
            <a:chExt cx="1354200" cy="1354200"/>
          </a:xfrm>
        </p:grpSpPr>
        <p:sp>
          <p:nvSpPr>
            <p:cNvPr id="417" name="Google Shape;417;p28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BLANK_1_1_1_1_1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29"/>
          <p:cNvSpPr txBox="1">
            <a:spLocks noGrp="1"/>
          </p:cNvSpPr>
          <p:nvPr>
            <p:ph type="subTitle" idx="1"/>
          </p:nvPr>
        </p:nvSpPr>
        <p:spPr>
          <a:xfrm>
            <a:off x="1188763" y="2232810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29"/>
          <p:cNvSpPr txBox="1">
            <a:spLocks noGrp="1"/>
          </p:cNvSpPr>
          <p:nvPr>
            <p:ph type="subTitle" idx="2"/>
          </p:nvPr>
        </p:nvSpPr>
        <p:spPr>
          <a:xfrm>
            <a:off x="3545850" y="2232810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29"/>
          <p:cNvSpPr txBox="1">
            <a:spLocks noGrp="1"/>
          </p:cNvSpPr>
          <p:nvPr>
            <p:ph type="subTitle" idx="3"/>
          </p:nvPr>
        </p:nvSpPr>
        <p:spPr>
          <a:xfrm>
            <a:off x="5902937" y="2232810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29"/>
          <p:cNvSpPr txBox="1">
            <a:spLocks noGrp="1"/>
          </p:cNvSpPr>
          <p:nvPr>
            <p:ph type="subTitle" idx="4"/>
          </p:nvPr>
        </p:nvSpPr>
        <p:spPr>
          <a:xfrm>
            <a:off x="2369458" y="3554375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29"/>
          <p:cNvSpPr txBox="1">
            <a:spLocks noGrp="1"/>
          </p:cNvSpPr>
          <p:nvPr>
            <p:ph type="subTitle" idx="5"/>
          </p:nvPr>
        </p:nvSpPr>
        <p:spPr>
          <a:xfrm>
            <a:off x="4726545" y="3554375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29"/>
          <p:cNvSpPr txBox="1">
            <a:spLocks noGrp="1"/>
          </p:cNvSpPr>
          <p:nvPr>
            <p:ph type="subTitle" idx="6"/>
          </p:nvPr>
        </p:nvSpPr>
        <p:spPr>
          <a:xfrm>
            <a:off x="1184459" y="1748000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29"/>
          <p:cNvSpPr txBox="1">
            <a:spLocks noGrp="1"/>
          </p:cNvSpPr>
          <p:nvPr>
            <p:ph type="subTitle" idx="7"/>
          </p:nvPr>
        </p:nvSpPr>
        <p:spPr>
          <a:xfrm>
            <a:off x="3545850" y="1748000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29"/>
          <p:cNvSpPr txBox="1">
            <a:spLocks noGrp="1"/>
          </p:cNvSpPr>
          <p:nvPr>
            <p:ph type="subTitle" idx="8"/>
          </p:nvPr>
        </p:nvSpPr>
        <p:spPr>
          <a:xfrm>
            <a:off x="5907241" y="1748000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29"/>
          <p:cNvSpPr txBox="1">
            <a:spLocks noGrp="1"/>
          </p:cNvSpPr>
          <p:nvPr>
            <p:ph type="subTitle" idx="9"/>
          </p:nvPr>
        </p:nvSpPr>
        <p:spPr>
          <a:xfrm>
            <a:off x="2365155" y="3069573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29"/>
          <p:cNvSpPr txBox="1">
            <a:spLocks noGrp="1"/>
          </p:cNvSpPr>
          <p:nvPr>
            <p:ph type="subTitle" idx="13"/>
          </p:nvPr>
        </p:nvSpPr>
        <p:spPr>
          <a:xfrm>
            <a:off x="4726545" y="3069573"/>
            <a:ext cx="205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1" name="Google Shape;431;p29"/>
          <p:cNvGrpSpPr/>
          <p:nvPr/>
        </p:nvGrpSpPr>
        <p:grpSpPr>
          <a:xfrm rot="5400000">
            <a:off x="-204575" y="4041133"/>
            <a:ext cx="903232" cy="231517"/>
            <a:chOff x="4476100" y="780600"/>
            <a:chExt cx="1408000" cy="360900"/>
          </a:xfrm>
        </p:grpSpPr>
        <p:sp>
          <p:nvSpPr>
            <p:cNvPr id="432" name="Google Shape;432;p29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29"/>
          <p:cNvGrpSpPr/>
          <p:nvPr/>
        </p:nvGrpSpPr>
        <p:grpSpPr>
          <a:xfrm rot="10800000">
            <a:off x="-812502" y="-796540"/>
            <a:ext cx="1532494" cy="1532494"/>
            <a:chOff x="5574901" y="405600"/>
            <a:chExt cx="1047000" cy="1047000"/>
          </a:xfrm>
        </p:grpSpPr>
        <p:sp>
          <p:nvSpPr>
            <p:cNvPr id="436" name="Google Shape;436;p29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29"/>
          <p:cNvSpPr/>
          <p:nvPr/>
        </p:nvSpPr>
        <p:spPr>
          <a:xfrm>
            <a:off x="8273825" y="3778283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0"/>
          <p:cNvSpPr txBox="1">
            <a:spLocks noGrp="1"/>
          </p:cNvSpPr>
          <p:nvPr>
            <p:ph type="subTitle" idx="1"/>
          </p:nvPr>
        </p:nvSpPr>
        <p:spPr>
          <a:xfrm>
            <a:off x="1209971" y="2046522"/>
            <a:ext cx="2039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0"/>
          <p:cNvSpPr txBox="1">
            <a:spLocks noGrp="1"/>
          </p:cNvSpPr>
          <p:nvPr>
            <p:ph type="subTitle" idx="2"/>
          </p:nvPr>
        </p:nvSpPr>
        <p:spPr>
          <a:xfrm>
            <a:off x="3552300" y="2046522"/>
            <a:ext cx="2039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30"/>
          <p:cNvSpPr txBox="1">
            <a:spLocks noGrp="1"/>
          </p:cNvSpPr>
          <p:nvPr>
            <p:ph type="subTitle" idx="3"/>
          </p:nvPr>
        </p:nvSpPr>
        <p:spPr>
          <a:xfrm>
            <a:off x="5894629" y="2046522"/>
            <a:ext cx="2039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30"/>
          <p:cNvSpPr txBox="1">
            <a:spLocks noGrp="1"/>
          </p:cNvSpPr>
          <p:nvPr>
            <p:ph type="subTitle" idx="4"/>
          </p:nvPr>
        </p:nvSpPr>
        <p:spPr>
          <a:xfrm>
            <a:off x="1209971" y="3696600"/>
            <a:ext cx="2039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30"/>
          <p:cNvSpPr txBox="1">
            <a:spLocks noGrp="1"/>
          </p:cNvSpPr>
          <p:nvPr>
            <p:ph type="subTitle" idx="5"/>
          </p:nvPr>
        </p:nvSpPr>
        <p:spPr>
          <a:xfrm>
            <a:off x="3552300" y="3696600"/>
            <a:ext cx="2039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30"/>
          <p:cNvSpPr txBox="1">
            <a:spLocks noGrp="1"/>
          </p:cNvSpPr>
          <p:nvPr>
            <p:ph type="subTitle" idx="6"/>
          </p:nvPr>
        </p:nvSpPr>
        <p:spPr>
          <a:xfrm>
            <a:off x="5894629" y="3696600"/>
            <a:ext cx="2039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30"/>
          <p:cNvSpPr txBox="1">
            <a:spLocks noGrp="1"/>
          </p:cNvSpPr>
          <p:nvPr>
            <p:ph type="subTitle" idx="7"/>
          </p:nvPr>
        </p:nvSpPr>
        <p:spPr>
          <a:xfrm>
            <a:off x="1205694" y="1561725"/>
            <a:ext cx="2039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8" name="Google Shape;448;p30"/>
          <p:cNvSpPr txBox="1">
            <a:spLocks noGrp="1"/>
          </p:cNvSpPr>
          <p:nvPr>
            <p:ph type="subTitle" idx="8"/>
          </p:nvPr>
        </p:nvSpPr>
        <p:spPr>
          <a:xfrm>
            <a:off x="3552300" y="1561725"/>
            <a:ext cx="2039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30"/>
          <p:cNvSpPr txBox="1">
            <a:spLocks noGrp="1"/>
          </p:cNvSpPr>
          <p:nvPr>
            <p:ph type="subTitle" idx="9"/>
          </p:nvPr>
        </p:nvSpPr>
        <p:spPr>
          <a:xfrm>
            <a:off x="5898906" y="1561725"/>
            <a:ext cx="2039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30"/>
          <p:cNvSpPr txBox="1">
            <a:spLocks noGrp="1"/>
          </p:cNvSpPr>
          <p:nvPr>
            <p:ph type="subTitle" idx="13"/>
          </p:nvPr>
        </p:nvSpPr>
        <p:spPr>
          <a:xfrm>
            <a:off x="1205694" y="3211801"/>
            <a:ext cx="2039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subTitle" idx="14"/>
          </p:nvPr>
        </p:nvSpPr>
        <p:spPr>
          <a:xfrm>
            <a:off x="3552300" y="3211801"/>
            <a:ext cx="2039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subTitle" idx="15"/>
          </p:nvPr>
        </p:nvSpPr>
        <p:spPr>
          <a:xfrm>
            <a:off x="5898906" y="3211801"/>
            <a:ext cx="2039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53" name="Google Shape;453;p30"/>
          <p:cNvGrpSpPr/>
          <p:nvPr/>
        </p:nvGrpSpPr>
        <p:grpSpPr>
          <a:xfrm rot="10800000">
            <a:off x="155750" y="4782183"/>
            <a:ext cx="903232" cy="231517"/>
            <a:chOff x="4476100" y="780600"/>
            <a:chExt cx="1408000" cy="360900"/>
          </a:xfrm>
        </p:grpSpPr>
        <p:sp>
          <p:nvSpPr>
            <p:cNvPr id="454" name="Google Shape;454;p30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30"/>
          <p:cNvGrpSpPr/>
          <p:nvPr/>
        </p:nvGrpSpPr>
        <p:grpSpPr>
          <a:xfrm rot="10800000">
            <a:off x="7556248" y="4160835"/>
            <a:ext cx="1532494" cy="1532494"/>
            <a:chOff x="5574901" y="405600"/>
            <a:chExt cx="1047000" cy="1047000"/>
          </a:xfrm>
        </p:grpSpPr>
        <p:sp>
          <p:nvSpPr>
            <p:cNvPr id="458" name="Google Shape;458;p30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" name="Google Shape;460;p30"/>
          <p:cNvSpPr/>
          <p:nvPr/>
        </p:nvSpPr>
        <p:spPr>
          <a:xfrm>
            <a:off x="-2641300" y="317708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" name="Google Shape;461;p30"/>
          <p:cNvGrpSpPr/>
          <p:nvPr/>
        </p:nvGrpSpPr>
        <p:grpSpPr>
          <a:xfrm rot="10800000">
            <a:off x="8428900" y="-142092"/>
            <a:ext cx="1354200" cy="1354200"/>
            <a:chOff x="-674475" y="4119375"/>
            <a:chExt cx="1354200" cy="1354200"/>
          </a:xfrm>
        </p:grpSpPr>
        <p:sp>
          <p:nvSpPr>
            <p:cNvPr id="462" name="Google Shape;462;p30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33"/>
          <p:cNvGrpSpPr/>
          <p:nvPr/>
        </p:nvGrpSpPr>
        <p:grpSpPr>
          <a:xfrm rot="10800000">
            <a:off x="155750" y="4782183"/>
            <a:ext cx="903232" cy="231517"/>
            <a:chOff x="4476100" y="780600"/>
            <a:chExt cx="1408000" cy="360900"/>
          </a:xfrm>
        </p:grpSpPr>
        <p:sp>
          <p:nvSpPr>
            <p:cNvPr id="507" name="Google Shape;507;p33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510;p33"/>
          <p:cNvGrpSpPr/>
          <p:nvPr/>
        </p:nvGrpSpPr>
        <p:grpSpPr>
          <a:xfrm rot="10800000">
            <a:off x="7556248" y="4160835"/>
            <a:ext cx="1532494" cy="1532494"/>
            <a:chOff x="5574901" y="405600"/>
            <a:chExt cx="1047000" cy="1047000"/>
          </a:xfrm>
        </p:grpSpPr>
        <p:sp>
          <p:nvSpPr>
            <p:cNvPr id="511" name="Google Shape;511;p33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33"/>
          <p:cNvSpPr/>
          <p:nvPr/>
        </p:nvSpPr>
        <p:spPr>
          <a:xfrm>
            <a:off x="-2641300" y="317708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4" name="Google Shape;514;p33"/>
          <p:cNvGrpSpPr/>
          <p:nvPr/>
        </p:nvGrpSpPr>
        <p:grpSpPr>
          <a:xfrm rot="10800000">
            <a:off x="8428900" y="-142092"/>
            <a:ext cx="1354200" cy="1354200"/>
            <a:chOff x="-674475" y="4119375"/>
            <a:chExt cx="1354200" cy="1354200"/>
          </a:xfrm>
        </p:grpSpPr>
        <p:sp>
          <p:nvSpPr>
            <p:cNvPr id="515" name="Google Shape;515;p33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34"/>
          <p:cNvGrpSpPr/>
          <p:nvPr/>
        </p:nvGrpSpPr>
        <p:grpSpPr>
          <a:xfrm>
            <a:off x="202743" y="174083"/>
            <a:ext cx="903232" cy="231517"/>
            <a:chOff x="4476100" y="780600"/>
            <a:chExt cx="1408000" cy="360900"/>
          </a:xfrm>
        </p:grpSpPr>
        <p:sp>
          <p:nvSpPr>
            <p:cNvPr id="519" name="Google Shape;519;p34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34"/>
          <p:cNvGrpSpPr/>
          <p:nvPr/>
        </p:nvGrpSpPr>
        <p:grpSpPr>
          <a:xfrm>
            <a:off x="7701076" y="-233662"/>
            <a:ext cx="1047000" cy="1047000"/>
            <a:chOff x="5574901" y="405600"/>
            <a:chExt cx="1047000" cy="1047000"/>
          </a:xfrm>
        </p:grpSpPr>
        <p:sp>
          <p:nvSpPr>
            <p:cNvPr id="523" name="Google Shape;523;p34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5" name="Google Shape;525;p34"/>
          <p:cNvSpPr/>
          <p:nvPr/>
        </p:nvSpPr>
        <p:spPr>
          <a:xfrm rot="10800000">
            <a:off x="8232825" y="2372550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6" name="Google Shape;526;p34"/>
          <p:cNvGrpSpPr/>
          <p:nvPr/>
        </p:nvGrpSpPr>
        <p:grpSpPr>
          <a:xfrm>
            <a:off x="7525667" y="4815258"/>
            <a:ext cx="903232" cy="231517"/>
            <a:chOff x="4476100" y="780600"/>
            <a:chExt cx="1408000" cy="360900"/>
          </a:xfrm>
        </p:grpSpPr>
        <p:sp>
          <p:nvSpPr>
            <p:cNvPr id="527" name="Google Shape;527;p34"/>
            <p:cNvSpPr/>
            <p:nvPr/>
          </p:nvSpPr>
          <p:spPr>
            <a:xfrm>
              <a:off x="44761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4999650" y="780600"/>
              <a:ext cx="360900" cy="360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5523200" y="780600"/>
              <a:ext cx="360900" cy="360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34"/>
          <p:cNvGrpSpPr/>
          <p:nvPr/>
        </p:nvGrpSpPr>
        <p:grpSpPr>
          <a:xfrm>
            <a:off x="-674475" y="4119375"/>
            <a:ext cx="1354200" cy="1354200"/>
            <a:chOff x="-674475" y="4119375"/>
            <a:chExt cx="1354200" cy="1354200"/>
          </a:xfrm>
        </p:grpSpPr>
        <p:sp>
          <p:nvSpPr>
            <p:cNvPr id="531" name="Google Shape;531;p34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8" r:id="rId7"/>
    <p:sldLayoutId id="2147483659" r:id="rId8"/>
    <p:sldLayoutId id="2147483663" r:id="rId9"/>
    <p:sldLayoutId id="2147483670" r:id="rId10"/>
    <p:sldLayoutId id="2147483672" r:id="rId11"/>
    <p:sldLayoutId id="2147483674" r:id="rId12"/>
    <p:sldLayoutId id="2147483675" r:id="rId13"/>
    <p:sldLayoutId id="2147483676" r:id="rId14"/>
    <p:sldLayoutId id="2147483679" r:id="rId15"/>
    <p:sldLayoutId id="214748368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8"/>
          <p:cNvSpPr txBox="1">
            <a:spLocks noGrp="1"/>
          </p:cNvSpPr>
          <p:nvPr>
            <p:ph type="ctrTitle"/>
          </p:nvPr>
        </p:nvSpPr>
        <p:spPr>
          <a:xfrm>
            <a:off x="646520" y="1325549"/>
            <a:ext cx="8253640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400" dirty="0"/>
              <a:t>Predictive Modeling of Diabetes Using CHAID Decision Trees in SPSS Modeler Using IBM SPSS Modeler</a:t>
            </a:r>
            <a:br>
              <a:rPr lang="en-IN" sz="2400" dirty="0"/>
            </a:br>
            <a:r>
              <a:rPr lang="en-IN" sz="2400" dirty="0"/>
              <a:t>Presentation</a:t>
            </a:r>
            <a:endParaRPr lang="en-US" sz="2400" dirty="0"/>
          </a:p>
        </p:txBody>
      </p:sp>
      <p:sp>
        <p:nvSpPr>
          <p:cNvPr id="544" name="Google Shape;544;p38"/>
          <p:cNvSpPr txBox="1">
            <a:spLocks noGrp="1"/>
          </p:cNvSpPr>
          <p:nvPr>
            <p:ph type="subTitle" idx="1"/>
          </p:nvPr>
        </p:nvSpPr>
        <p:spPr>
          <a:xfrm>
            <a:off x="579120" y="3529284"/>
            <a:ext cx="3741420" cy="1046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by: Somen Mandal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       Rahul Kar Modak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    Harsh Kr Singh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46" name="Google Shape;546;p38"/>
          <p:cNvGrpSpPr/>
          <p:nvPr/>
        </p:nvGrpSpPr>
        <p:grpSpPr>
          <a:xfrm>
            <a:off x="5574901" y="405600"/>
            <a:ext cx="1047000" cy="1047000"/>
            <a:chOff x="5574901" y="405600"/>
            <a:chExt cx="1047000" cy="1047000"/>
          </a:xfrm>
        </p:grpSpPr>
        <p:sp>
          <p:nvSpPr>
            <p:cNvPr id="547" name="Google Shape;547;p38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8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38"/>
          <p:cNvSpPr/>
          <p:nvPr/>
        </p:nvSpPr>
        <p:spPr>
          <a:xfrm rot="10800000">
            <a:off x="8232825" y="2372550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9"/>
          <p:cNvSpPr txBox="1">
            <a:spLocks noGrp="1"/>
          </p:cNvSpPr>
          <p:nvPr>
            <p:ph type="title"/>
          </p:nvPr>
        </p:nvSpPr>
        <p:spPr>
          <a:xfrm>
            <a:off x="0" y="142550"/>
            <a:ext cx="3989160" cy="707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Brief</a:t>
            </a:r>
            <a:endParaRPr dirty="0"/>
          </a:p>
        </p:txBody>
      </p:sp>
      <p:sp>
        <p:nvSpPr>
          <p:cNvPr id="555" name="Google Shape;555;p39"/>
          <p:cNvSpPr txBox="1">
            <a:spLocks noGrp="1"/>
          </p:cNvSpPr>
          <p:nvPr>
            <p:ph type="body" idx="1"/>
          </p:nvPr>
        </p:nvSpPr>
        <p:spPr>
          <a:xfrm>
            <a:off x="209460" y="1312494"/>
            <a:ext cx="7616280" cy="20555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project focuses on predicting whether a person is diabetic based on medical features.</a:t>
            </a:r>
          </a:p>
          <a:p>
            <a:endParaRPr lang="en-US" dirty="0"/>
          </a:p>
          <a:p>
            <a:r>
              <a:rPr lang="en-US" dirty="0"/>
              <a:t>Using Machine Learning models, the dataset is analyzed to uncover patterns that influence diabetes.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The project demonstrates practical applications of classification techniques using real-world health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0"/>
          <p:cNvSpPr txBox="1">
            <a:spLocks noGrp="1"/>
          </p:cNvSpPr>
          <p:nvPr>
            <p:ph type="title" idx="13"/>
          </p:nvPr>
        </p:nvSpPr>
        <p:spPr>
          <a:xfrm>
            <a:off x="-167640" y="248523"/>
            <a:ext cx="49873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Introduction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931AA3-0AFD-8307-7B5E-2A2C42B6EB23}"/>
              </a:ext>
            </a:extLst>
          </p:cNvPr>
          <p:cNvSpPr txBox="1"/>
          <p:nvPr/>
        </p:nvSpPr>
        <p:spPr>
          <a:xfrm>
            <a:off x="556260" y="1264920"/>
            <a:ext cx="82753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Diabetes is one of the most rapidly increasing health problems globally.</a:t>
            </a:r>
          </a:p>
          <a:p>
            <a:pPr>
              <a:buNone/>
            </a:pPr>
            <a:r>
              <a:rPr lang="en-US" dirty="0"/>
              <a:t>Early prediction can reduce complications and help patients take preventive steps.</a:t>
            </a:r>
          </a:p>
          <a:p>
            <a:pPr>
              <a:buNone/>
            </a:pPr>
            <a:r>
              <a:rPr lang="en-US" dirty="0"/>
              <a:t>This project uses machine learning to: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key medical indicators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diabetes likelihood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important health features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1"/>
          <p:cNvSpPr txBox="1">
            <a:spLocks noGrp="1"/>
          </p:cNvSpPr>
          <p:nvPr>
            <p:ph type="subTitle" idx="1"/>
          </p:nvPr>
        </p:nvSpPr>
        <p:spPr>
          <a:xfrm>
            <a:off x="1383117" y="1420210"/>
            <a:ext cx="4709595" cy="36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Technical</a:t>
            </a:r>
            <a:br>
              <a:rPr lang="en-US" dirty="0"/>
            </a:br>
            <a:r>
              <a:rPr lang="en-US" dirty="0"/>
              <a:t>• Implemented using Python (Pandas, NumPy, Scikit-Learn, Matplotlib).</a:t>
            </a:r>
            <a:br>
              <a:rPr lang="en-US" dirty="0"/>
            </a:br>
            <a:r>
              <a:rPr lang="en-US" dirty="0"/>
              <a:t>• Dataset is structured and easy to process.</a:t>
            </a:r>
          </a:p>
          <a:p>
            <a:r>
              <a:rPr lang="en-US" b="1" dirty="0"/>
              <a:t>Operational</a:t>
            </a:r>
            <a:br>
              <a:rPr lang="en-US" dirty="0"/>
            </a:br>
            <a:r>
              <a:rPr lang="en-US" dirty="0"/>
              <a:t>• Suitable for healthcare predictive analytics.</a:t>
            </a:r>
          </a:p>
          <a:p>
            <a:r>
              <a:rPr lang="en-US" b="1" dirty="0"/>
              <a:t>Economic</a:t>
            </a:r>
            <a:br>
              <a:rPr lang="en-US" dirty="0"/>
            </a:br>
            <a:r>
              <a:rPr lang="en-US" dirty="0"/>
              <a:t>• Uses free datasets and open-source libraries.</a:t>
            </a:r>
          </a:p>
          <a:p>
            <a:r>
              <a:rPr lang="en-US" b="1" dirty="0"/>
              <a:t>Time Feasibility</a:t>
            </a:r>
            <a:br>
              <a:rPr lang="en-US" dirty="0"/>
            </a:br>
            <a:r>
              <a:rPr lang="en-US" dirty="0"/>
              <a:t>• The complete process can be completed within 1–2 weeks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…</a:t>
            </a:r>
            <a:endParaRPr dirty="0"/>
          </a:p>
        </p:txBody>
      </p:sp>
      <p:sp>
        <p:nvSpPr>
          <p:cNvPr id="584" name="Google Shape;584;p41"/>
          <p:cNvSpPr txBox="1">
            <a:spLocks noGrp="1"/>
          </p:cNvSpPr>
          <p:nvPr>
            <p:ph type="title"/>
          </p:nvPr>
        </p:nvSpPr>
        <p:spPr>
          <a:xfrm>
            <a:off x="591705" y="232696"/>
            <a:ext cx="6983691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 dirty="0"/>
              <a:t>Feasibility Study</a:t>
            </a:r>
            <a:endParaRPr sz="4800" dirty="0"/>
          </a:p>
        </p:txBody>
      </p:sp>
      <p:grpSp>
        <p:nvGrpSpPr>
          <p:cNvPr id="586" name="Google Shape;586;p41"/>
          <p:cNvGrpSpPr/>
          <p:nvPr/>
        </p:nvGrpSpPr>
        <p:grpSpPr>
          <a:xfrm>
            <a:off x="336117" y="170727"/>
            <a:ext cx="1047000" cy="1047000"/>
            <a:chOff x="5574901" y="405600"/>
            <a:chExt cx="1047000" cy="1047000"/>
          </a:xfrm>
        </p:grpSpPr>
        <p:sp>
          <p:nvSpPr>
            <p:cNvPr id="587" name="Google Shape;587;p41"/>
            <p:cNvSpPr/>
            <p:nvPr/>
          </p:nvSpPr>
          <p:spPr>
            <a:xfrm>
              <a:off x="5574901" y="405600"/>
              <a:ext cx="1047000" cy="10470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5901475" y="761269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2"/>
          <p:cNvSpPr txBox="1">
            <a:spLocks noGrp="1"/>
          </p:cNvSpPr>
          <p:nvPr>
            <p:ph type="title"/>
          </p:nvPr>
        </p:nvSpPr>
        <p:spPr>
          <a:xfrm>
            <a:off x="120538" y="266522"/>
            <a:ext cx="4451462" cy="7043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/>
              <a:t>Dataset Details</a:t>
            </a:r>
            <a:endParaRPr dirty="0"/>
          </a:p>
        </p:txBody>
      </p:sp>
      <p:sp>
        <p:nvSpPr>
          <p:cNvPr id="595" name="Google Shape;595;p42"/>
          <p:cNvSpPr txBox="1">
            <a:spLocks noGrp="1"/>
          </p:cNvSpPr>
          <p:nvPr>
            <p:ph type="subTitle" idx="1"/>
          </p:nvPr>
        </p:nvSpPr>
        <p:spPr>
          <a:xfrm>
            <a:off x="408878" y="914400"/>
            <a:ext cx="7823947" cy="4681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b="1" dirty="0"/>
              <a:t>Dataset Name: </a:t>
            </a:r>
            <a:r>
              <a:rPr lang="en-US" dirty="0"/>
              <a:t>diabetes_large.csv</a:t>
            </a:r>
            <a:endParaRPr lang="en-US" b="1" dirty="0"/>
          </a:p>
          <a:p>
            <a:pPr lvl="0" algn="l"/>
            <a:r>
              <a:rPr lang="en-US" b="1" dirty="0"/>
              <a:t>Rows:</a:t>
            </a:r>
            <a:r>
              <a:rPr lang="en-US" dirty="0"/>
              <a:t> 35,000</a:t>
            </a:r>
            <a:endParaRPr lang="en-US" sz="1100" dirty="0"/>
          </a:p>
          <a:p>
            <a:pPr lvl="0" algn="l"/>
            <a:r>
              <a:rPr lang="en-US" b="1" dirty="0"/>
              <a:t>Columns:</a:t>
            </a:r>
            <a:r>
              <a:rPr lang="en-US" dirty="0"/>
              <a:t> 9</a:t>
            </a:r>
            <a:endParaRPr lang="en-US" sz="1100" dirty="0"/>
          </a:p>
          <a:p>
            <a:pPr lvl="0" algn="l"/>
            <a:r>
              <a:rPr lang="en-US" b="1" dirty="0"/>
              <a:t>Features Included:</a:t>
            </a:r>
            <a:endParaRPr lang="en-US" sz="1100" dirty="0"/>
          </a:p>
          <a:p>
            <a:pPr lvl="1" algn="l"/>
            <a:r>
              <a:rPr lang="en-US" i="1" dirty="0"/>
              <a:t>Pregnancies</a:t>
            </a:r>
            <a:endParaRPr lang="en-US" sz="1100" dirty="0"/>
          </a:p>
          <a:p>
            <a:pPr lvl="1" algn="l"/>
            <a:r>
              <a:rPr lang="en-US" i="1" dirty="0"/>
              <a:t>Glucose</a:t>
            </a:r>
            <a:endParaRPr lang="en-US" sz="1100" dirty="0"/>
          </a:p>
          <a:p>
            <a:pPr lvl="1" algn="l"/>
            <a:r>
              <a:rPr lang="en-US" i="1" dirty="0"/>
              <a:t>Blood Pressure</a:t>
            </a:r>
            <a:endParaRPr lang="en-US" sz="1100" dirty="0"/>
          </a:p>
          <a:p>
            <a:pPr lvl="1" algn="l"/>
            <a:r>
              <a:rPr lang="en-US" i="1" dirty="0"/>
              <a:t>Skin Thickness</a:t>
            </a:r>
            <a:endParaRPr lang="en-US" sz="1100" dirty="0"/>
          </a:p>
          <a:p>
            <a:pPr lvl="1" algn="l"/>
            <a:r>
              <a:rPr lang="en-US" i="1" dirty="0"/>
              <a:t>Insulin</a:t>
            </a:r>
            <a:endParaRPr lang="en-US" sz="1100" dirty="0"/>
          </a:p>
          <a:p>
            <a:pPr lvl="1" algn="l"/>
            <a:r>
              <a:rPr lang="en-US" i="1" dirty="0"/>
              <a:t>BMI</a:t>
            </a:r>
            <a:endParaRPr lang="en-US" sz="1100" dirty="0"/>
          </a:p>
          <a:p>
            <a:pPr lvl="1" algn="l"/>
            <a:r>
              <a:rPr lang="en-US" i="1" dirty="0"/>
              <a:t>Diabetes Pedigree Function</a:t>
            </a:r>
            <a:endParaRPr lang="en-US" sz="1100" dirty="0"/>
          </a:p>
          <a:p>
            <a:pPr lvl="1" algn="l"/>
            <a:r>
              <a:rPr lang="en-US" i="1" dirty="0"/>
              <a:t>Age</a:t>
            </a:r>
            <a:endParaRPr lang="en-US" sz="1100" dirty="0"/>
          </a:p>
          <a:p>
            <a:pPr lvl="1" algn="l"/>
            <a:r>
              <a:rPr lang="en-US" i="1" dirty="0"/>
              <a:t>Outcome</a:t>
            </a:r>
            <a:r>
              <a:rPr lang="en-US" dirty="0"/>
              <a:t> (Target)</a:t>
            </a:r>
            <a:endParaRPr lang="en-US" sz="1100" dirty="0"/>
          </a:p>
          <a:p>
            <a:pPr lvl="0" algn="l"/>
            <a:r>
              <a:rPr lang="en-US" b="1" dirty="0"/>
              <a:t>Description:</a:t>
            </a:r>
            <a:br>
              <a:rPr lang="en-US" dirty="0"/>
            </a:br>
            <a:r>
              <a:rPr lang="en-US" dirty="0"/>
              <a:t>This dataset contains medical diagnostic measurements used to predict whether a patient is likely to have diabetes (</a:t>
            </a:r>
            <a:r>
              <a:rPr lang="en-US" i="1" dirty="0"/>
              <a:t>Outcome = 1</a:t>
            </a:r>
            <a:r>
              <a:rPr lang="en-US" dirty="0"/>
              <a:t>) or not (</a:t>
            </a:r>
            <a:r>
              <a:rPr lang="en-US" i="1" dirty="0"/>
              <a:t>Outcome = 0</a:t>
            </a:r>
            <a:r>
              <a:rPr lang="en-US" dirty="0"/>
              <a:t>). The features represent important clinical parameters such as glucose level, BMI, insulin level, age, and more. These variables are commonly used in healthcare analytics for early detection of diabetes.</a:t>
            </a:r>
            <a:endParaRPr lang="en-US" sz="1100" dirty="0"/>
          </a:p>
        </p:txBody>
      </p:sp>
      <p:sp>
        <p:nvSpPr>
          <p:cNvPr id="598" name="Google Shape;598;p42"/>
          <p:cNvSpPr/>
          <p:nvPr/>
        </p:nvSpPr>
        <p:spPr>
          <a:xfrm rot="10800000">
            <a:off x="8232825" y="2188250"/>
            <a:ext cx="2957400" cy="2957400"/>
          </a:xfrm>
          <a:prstGeom prst="blockArc">
            <a:avLst>
              <a:gd name="adj1" fmla="val 10800000"/>
              <a:gd name="adj2" fmla="val 24036"/>
              <a:gd name="adj3" fmla="val 2527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42"/>
          <p:cNvGrpSpPr/>
          <p:nvPr/>
        </p:nvGrpSpPr>
        <p:grpSpPr>
          <a:xfrm>
            <a:off x="4931175" y="-58350"/>
            <a:ext cx="1354200" cy="1354200"/>
            <a:chOff x="-674475" y="4119375"/>
            <a:chExt cx="1354200" cy="1354200"/>
          </a:xfrm>
        </p:grpSpPr>
        <p:sp>
          <p:nvSpPr>
            <p:cNvPr id="600" name="Google Shape;600;p42"/>
            <p:cNvSpPr/>
            <p:nvPr/>
          </p:nvSpPr>
          <p:spPr>
            <a:xfrm>
              <a:off x="-674475" y="4119375"/>
              <a:ext cx="1354200" cy="1354200"/>
            </a:xfrm>
            <a:prstGeom prst="blockArc">
              <a:avLst>
                <a:gd name="adj1" fmla="val 10800000"/>
                <a:gd name="adj2" fmla="val 85720"/>
                <a:gd name="adj3" fmla="val 2150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2"/>
            <p:cNvSpPr/>
            <p:nvPr/>
          </p:nvSpPr>
          <p:spPr>
            <a:xfrm>
              <a:off x="-194362" y="4599464"/>
              <a:ext cx="393900" cy="39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3"/>
          <p:cNvSpPr txBox="1">
            <a:spLocks noGrp="1"/>
          </p:cNvSpPr>
          <p:nvPr>
            <p:ph type="title"/>
          </p:nvPr>
        </p:nvSpPr>
        <p:spPr>
          <a:xfrm>
            <a:off x="281385" y="430155"/>
            <a:ext cx="7963083" cy="8559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CHAID Model 1: Diabetes Prediction</a:t>
            </a:r>
            <a:endParaRPr sz="2800" dirty="0"/>
          </a:p>
        </p:txBody>
      </p:sp>
      <p:sp>
        <p:nvSpPr>
          <p:cNvPr id="608" name="Google Shape;608;p43"/>
          <p:cNvSpPr txBox="1">
            <a:spLocks noGrp="1"/>
          </p:cNvSpPr>
          <p:nvPr>
            <p:ph type="subTitle" idx="2"/>
          </p:nvPr>
        </p:nvSpPr>
        <p:spPr>
          <a:xfrm>
            <a:off x="110411" y="1371125"/>
            <a:ext cx="3524887" cy="15579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 Predict diabetic vs non-diabetic</a:t>
            </a:r>
            <a:br>
              <a:rPr lang="en-US" dirty="0"/>
            </a:br>
            <a:r>
              <a:rPr lang="en-US" b="1" dirty="0"/>
              <a:t>Inputs:</a:t>
            </a:r>
            <a:r>
              <a:rPr lang="en-US" dirty="0"/>
              <a:t> Glucose, BMI, Age, etc.</a:t>
            </a:r>
            <a:br>
              <a:rPr lang="en-US" dirty="0"/>
            </a:br>
            <a:r>
              <a:rPr lang="en-US" b="1" dirty="0"/>
              <a:t>Model:</a:t>
            </a:r>
            <a:r>
              <a:rPr lang="en-US" dirty="0"/>
              <a:t> CHAID Decision Tree</a:t>
            </a:r>
            <a:br>
              <a:rPr lang="en-US" dirty="0"/>
            </a:br>
            <a:r>
              <a:rPr lang="en-US" b="1" dirty="0"/>
              <a:t>Insights:</a:t>
            </a:r>
            <a:r>
              <a:rPr lang="en-US" dirty="0"/>
              <a:t> Glucose strongest factor, BMI &amp; Age significant</a:t>
            </a:r>
            <a:br>
              <a:rPr lang="en-US" dirty="0"/>
            </a:br>
            <a:r>
              <a:rPr lang="en-US" b="1" dirty="0"/>
              <a:t>Outcome:</a:t>
            </a:r>
            <a:r>
              <a:rPr lang="en-US" dirty="0"/>
              <a:t> Clear rules for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AEC85-683A-8570-2F52-1CA4BE310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99" y="2723863"/>
            <a:ext cx="6014085" cy="1420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4"/>
          <p:cNvSpPr txBox="1">
            <a:spLocks noGrp="1"/>
          </p:cNvSpPr>
          <p:nvPr>
            <p:ph type="title"/>
          </p:nvPr>
        </p:nvSpPr>
        <p:spPr>
          <a:xfrm>
            <a:off x="201840" y="3459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CHAID Model 2: BMI Category Prediction</a:t>
            </a:r>
            <a:endParaRPr sz="2800" dirty="0"/>
          </a:p>
        </p:txBody>
      </p:sp>
      <p:sp>
        <p:nvSpPr>
          <p:cNvPr id="614" name="Google Shape;614;p44"/>
          <p:cNvSpPr txBox="1">
            <a:spLocks noGrp="1"/>
          </p:cNvSpPr>
          <p:nvPr>
            <p:ph type="body" idx="1"/>
          </p:nvPr>
        </p:nvSpPr>
        <p:spPr>
          <a:xfrm>
            <a:off x="353940" y="1269695"/>
            <a:ext cx="3699900" cy="17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/>
              <a:t>Objective:</a:t>
            </a:r>
            <a:r>
              <a:rPr lang="en-US" dirty="0"/>
              <a:t> Predict BMI class (Underweight–Obese)</a:t>
            </a:r>
            <a:br>
              <a:rPr lang="en-US" dirty="0"/>
            </a:br>
            <a:r>
              <a:rPr lang="en-US" b="1" dirty="0"/>
              <a:t>Inputs:</a:t>
            </a:r>
            <a:r>
              <a:rPr lang="en-US" dirty="0"/>
              <a:t> Age, Glucose, Skin Thickness</a:t>
            </a:r>
            <a:br>
              <a:rPr lang="en-US" dirty="0"/>
            </a:br>
            <a:r>
              <a:rPr lang="en-US" b="1" dirty="0"/>
              <a:t>Insights:</a:t>
            </a:r>
            <a:r>
              <a:rPr lang="en-US" dirty="0"/>
              <a:t> Age major split; Glucose helps identify overweight/obese</a:t>
            </a:r>
            <a:br>
              <a:rPr lang="en-US" dirty="0"/>
            </a:br>
            <a:r>
              <a:rPr lang="en-US" b="1" dirty="0"/>
              <a:t>Outcome:</a:t>
            </a:r>
            <a:r>
              <a:rPr lang="en-US" dirty="0"/>
              <a:t> Good segmentation for health monitoring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16959-A3A1-B028-47ED-ED814ED48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90" y="2775145"/>
            <a:ext cx="6271260" cy="1229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5"/>
          <p:cNvSpPr txBox="1">
            <a:spLocks noGrp="1"/>
          </p:cNvSpPr>
          <p:nvPr>
            <p:ph type="title"/>
          </p:nvPr>
        </p:nvSpPr>
        <p:spPr>
          <a:xfrm>
            <a:off x="-184830" y="77990"/>
            <a:ext cx="95136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CHAID Model 3: Glucose Level Category Prediction</a:t>
            </a:r>
            <a:endParaRPr sz="2800" dirty="0"/>
          </a:p>
        </p:txBody>
      </p:sp>
      <p:sp>
        <p:nvSpPr>
          <p:cNvPr id="631" name="Google Shape;631;p45"/>
          <p:cNvSpPr txBox="1">
            <a:spLocks noGrp="1"/>
          </p:cNvSpPr>
          <p:nvPr>
            <p:ph type="subTitle" idx="4294967295"/>
          </p:nvPr>
        </p:nvSpPr>
        <p:spPr>
          <a:xfrm>
            <a:off x="231848" y="792951"/>
            <a:ext cx="3982012" cy="177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200" b="1" dirty="0"/>
              <a:t>Objective:</a:t>
            </a:r>
            <a:r>
              <a:rPr lang="en-US" sz="1200" dirty="0"/>
              <a:t> Categorize glucose (Low/Normal/High/Very High)</a:t>
            </a:r>
            <a:br>
              <a:rPr lang="en-US" sz="1200" dirty="0"/>
            </a:br>
            <a:r>
              <a:rPr lang="en-US" sz="1200" b="1" dirty="0"/>
              <a:t>Inputs:</a:t>
            </a:r>
            <a:r>
              <a:rPr lang="en-US" sz="1200" dirty="0"/>
              <a:t> BMI, Insulin, Age</a:t>
            </a:r>
            <a:br>
              <a:rPr lang="en-US" sz="1200" dirty="0"/>
            </a:br>
            <a:r>
              <a:rPr lang="en-US" sz="1200" b="1" dirty="0"/>
              <a:t>Insights:</a:t>
            </a:r>
            <a:r>
              <a:rPr lang="en-US" sz="1200" dirty="0"/>
              <a:t> BMI + Insulin strongly affect glucose category</a:t>
            </a:r>
            <a:br>
              <a:rPr lang="en-US" sz="1200" dirty="0"/>
            </a:br>
            <a:r>
              <a:rPr lang="en-US" sz="1200" b="1" dirty="0"/>
              <a:t>Outcome:</a:t>
            </a:r>
            <a:r>
              <a:rPr lang="en-US" sz="1200" dirty="0"/>
              <a:t> Helps identify early diabetes risk groups</a:t>
            </a:r>
            <a:endParaRPr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46D842-4897-245E-3E13-153951868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25" y="2227580"/>
            <a:ext cx="7170252" cy="2329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6"/>
          <p:cNvSpPr txBox="1">
            <a:spLocks noGrp="1"/>
          </p:cNvSpPr>
          <p:nvPr>
            <p:ph type="title"/>
          </p:nvPr>
        </p:nvSpPr>
        <p:spPr>
          <a:xfrm>
            <a:off x="-240120" y="868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CHAID Model 4: Age Group Prediction</a:t>
            </a:r>
            <a:endParaRPr sz="2800" dirty="0"/>
          </a:p>
        </p:txBody>
      </p:sp>
      <p:sp>
        <p:nvSpPr>
          <p:cNvPr id="650" name="Google Shape;650;p46"/>
          <p:cNvSpPr txBox="1">
            <a:spLocks noGrp="1"/>
          </p:cNvSpPr>
          <p:nvPr>
            <p:ph type="subTitle" idx="4"/>
          </p:nvPr>
        </p:nvSpPr>
        <p:spPr>
          <a:xfrm>
            <a:off x="125810" y="787506"/>
            <a:ext cx="2678349" cy="1909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Objective:</a:t>
            </a:r>
            <a:r>
              <a:rPr lang="en-US" dirty="0"/>
              <a:t> Predict age clusters (Youth, Adult, Middle-Aged, Senior)</a:t>
            </a:r>
            <a:br>
              <a:rPr lang="en-US" dirty="0"/>
            </a:br>
            <a:r>
              <a:rPr lang="en-US" b="1" dirty="0"/>
              <a:t>Inputs:</a:t>
            </a:r>
            <a:r>
              <a:rPr lang="en-US" dirty="0"/>
              <a:t> Glucose, BMI, Pregnancies, Insulin</a:t>
            </a:r>
            <a:br>
              <a:rPr lang="en-US" dirty="0"/>
            </a:br>
            <a:r>
              <a:rPr lang="en-US" b="1" dirty="0"/>
              <a:t>Insights:</a:t>
            </a:r>
            <a:r>
              <a:rPr lang="en-US" dirty="0"/>
              <a:t> BMI/Glucose split age ranges well</a:t>
            </a:r>
            <a:br>
              <a:rPr lang="en-US" dirty="0"/>
            </a:br>
            <a:r>
              <a:rPr lang="en-US" b="1" dirty="0"/>
              <a:t>Outcome:</a:t>
            </a:r>
            <a:r>
              <a:rPr lang="en-US" dirty="0"/>
              <a:t> Useful for demographic segmentation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2B444B-1C34-837F-D56C-F43231465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305" y="2696621"/>
            <a:ext cx="5731510" cy="1852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7"/>
          <p:cNvSpPr txBox="1">
            <a:spLocks noGrp="1"/>
          </p:cNvSpPr>
          <p:nvPr>
            <p:ph type="title"/>
          </p:nvPr>
        </p:nvSpPr>
        <p:spPr>
          <a:xfrm>
            <a:off x="720000" y="945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Feasibility Study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FA7043-028C-1CDC-EE72-5556C405C0B6}"/>
              </a:ext>
            </a:extLst>
          </p:cNvPr>
          <p:cNvSpPr txBox="1"/>
          <p:nvPr/>
        </p:nvSpPr>
        <p:spPr>
          <a:xfrm>
            <a:off x="304620" y="937260"/>
            <a:ext cx="8382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dirty="0"/>
          </a:p>
        </p:txBody>
      </p:sp>
      <p:sp>
        <p:nvSpPr>
          <p:cNvPr id="15" name="Google Shape;650;p46">
            <a:extLst>
              <a:ext uri="{FF2B5EF4-FFF2-40B4-BE49-F238E27FC236}">
                <a16:creationId xmlns:a16="http://schemas.microsoft.com/office/drawing/2014/main" id="{F5859F16-325C-90AD-43F1-FC190068B54A}"/>
              </a:ext>
            </a:extLst>
          </p:cNvPr>
          <p:cNvSpPr txBox="1">
            <a:spLocks/>
          </p:cNvSpPr>
          <p:nvPr/>
        </p:nvSpPr>
        <p:spPr>
          <a:xfrm>
            <a:off x="7620" y="1000866"/>
            <a:ext cx="8560990" cy="414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2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b="1" dirty="0"/>
              <a:t>Technical Feasibility</a:t>
            </a:r>
          </a:p>
          <a:p>
            <a:r>
              <a:rPr lang="en-US" dirty="0"/>
              <a:t>The dataset contains structured medical attributes (Glucose, BMI, Age, Insulin, Blood Pressure), making it ideal for CHAID decision tree modeling.</a:t>
            </a:r>
          </a:p>
          <a:p>
            <a:r>
              <a:rPr lang="en-US" dirty="0"/>
              <a:t>Tools such as </a:t>
            </a:r>
            <a:r>
              <a:rPr lang="en-US" b="1" dirty="0"/>
              <a:t>Python</a:t>
            </a:r>
            <a:r>
              <a:rPr lang="en-US" dirty="0"/>
              <a:t>, </a:t>
            </a:r>
            <a:r>
              <a:rPr lang="en-US" b="1" dirty="0"/>
              <a:t>SPSS Modeler</a:t>
            </a:r>
            <a:r>
              <a:rPr lang="en-US" dirty="0"/>
              <a:t>, and </a:t>
            </a:r>
            <a:r>
              <a:rPr lang="en-US" b="1" dirty="0"/>
              <a:t>Scikit-Learn</a:t>
            </a:r>
            <a:r>
              <a:rPr lang="en-US" dirty="0"/>
              <a:t> efficiently support data preprocessing, visualization, and CHAID-based classification.</a:t>
            </a:r>
          </a:p>
          <a:p>
            <a:r>
              <a:rPr lang="en-US" dirty="0"/>
              <a:t>The models are interpretable, rule-based, and easy to integrate into healthcare decision systems.</a:t>
            </a:r>
          </a:p>
          <a:p>
            <a:r>
              <a:rPr lang="en-US" b="1" dirty="0"/>
              <a:t>Operational Feasibility</a:t>
            </a:r>
          </a:p>
          <a:p>
            <a:r>
              <a:rPr lang="en-US" dirty="0"/>
              <a:t>Healthcare professionals can easily understand CHAID-generated rules for diagnosis.</a:t>
            </a:r>
          </a:p>
          <a:p>
            <a:r>
              <a:rPr lang="en-US" dirty="0"/>
              <a:t>No complex infrastructure is required—runs smoothly on a standard laptop.</a:t>
            </a:r>
          </a:p>
          <a:p>
            <a:r>
              <a:rPr lang="en-US" dirty="0"/>
              <a:t>Useful for hospitals, clinics, and screening camps to classify patients quickly.</a:t>
            </a:r>
          </a:p>
          <a:p>
            <a:r>
              <a:rPr lang="en-US" b="1" dirty="0"/>
              <a:t>Economic Feasibility</a:t>
            </a:r>
          </a:p>
          <a:p>
            <a:r>
              <a:rPr lang="en-US" dirty="0"/>
              <a:t>The dataset is publicly available and free.</a:t>
            </a:r>
          </a:p>
          <a:p>
            <a:r>
              <a:rPr lang="en-US" dirty="0"/>
              <a:t>Tools used are open-source or educational versions, reducing cost.</a:t>
            </a:r>
          </a:p>
          <a:p>
            <a:r>
              <a:rPr lang="en-US" dirty="0"/>
              <a:t>CHAID models have low computational cost, making them ideal for large-scale medical use.</a:t>
            </a:r>
          </a:p>
          <a:p>
            <a:r>
              <a:rPr lang="en-US" b="1" dirty="0"/>
              <a:t>Time Feasibility</a:t>
            </a:r>
          </a:p>
          <a:p>
            <a:r>
              <a:rPr lang="en-US" dirty="0"/>
              <a:t>Entire project—data cleaning, EDA, modeling, and evaluation—can be completed within </a:t>
            </a:r>
            <a:r>
              <a:rPr lang="en-US" b="1" dirty="0"/>
              <a:t>1–2 weeks</a:t>
            </a:r>
            <a:r>
              <a:rPr lang="en-US" dirty="0"/>
              <a:t>.</a:t>
            </a:r>
          </a:p>
          <a:p>
            <a:r>
              <a:rPr lang="en-US" dirty="0"/>
              <a:t>CHAID models are fast to train and produce results quickly, even with large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8"/>
          <p:cNvSpPr txBox="1">
            <a:spLocks noGrp="1"/>
          </p:cNvSpPr>
          <p:nvPr>
            <p:ph type="title"/>
          </p:nvPr>
        </p:nvSpPr>
        <p:spPr>
          <a:xfrm>
            <a:off x="720000" y="78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Overall Model Findings</a:t>
            </a:r>
            <a:endParaRPr dirty="0"/>
          </a:p>
        </p:txBody>
      </p:sp>
      <p:sp>
        <p:nvSpPr>
          <p:cNvPr id="672" name="Google Shape;672;p48"/>
          <p:cNvSpPr txBox="1">
            <a:spLocks noGrp="1"/>
          </p:cNvSpPr>
          <p:nvPr>
            <p:ph type="subTitle" idx="5"/>
          </p:nvPr>
        </p:nvSpPr>
        <p:spPr>
          <a:xfrm>
            <a:off x="814194" y="724750"/>
            <a:ext cx="7609806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Key Observations Across All 4 CHAID Models</a:t>
            </a:r>
          </a:p>
          <a:p>
            <a:r>
              <a:rPr lang="en-US" b="1" dirty="0"/>
              <a:t>Glucose</a:t>
            </a:r>
            <a:r>
              <a:rPr lang="en-US" dirty="0"/>
              <a:t>, </a:t>
            </a:r>
            <a:r>
              <a:rPr lang="en-US" b="1" dirty="0"/>
              <a:t>BMI</a:t>
            </a:r>
            <a:r>
              <a:rPr lang="en-US" dirty="0"/>
              <a:t>, and </a:t>
            </a:r>
            <a:r>
              <a:rPr lang="en-US" b="1" dirty="0"/>
              <a:t>Age</a:t>
            </a:r>
            <a:r>
              <a:rPr lang="en-US" dirty="0"/>
              <a:t> consistently emerged as the most influential factors across multiple predictions.</a:t>
            </a:r>
          </a:p>
          <a:p>
            <a:endParaRPr lang="en-US" dirty="0"/>
          </a:p>
          <a:p>
            <a:r>
              <a:rPr lang="en-US" dirty="0"/>
              <a:t>CHAID’s multi-level splitting created </a:t>
            </a:r>
            <a:r>
              <a:rPr lang="en-US" b="1" dirty="0"/>
              <a:t>clear, interpretable rules</a:t>
            </a:r>
            <a:r>
              <a:rPr lang="en-US" dirty="0"/>
              <a:t>, making it suitable for medical professionals who need transparent decision logic.</a:t>
            </a:r>
          </a:p>
          <a:p>
            <a:r>
              <a:rPr lang="en-US" b="1" dirty="0"/>
              <a:t>Model-Specific Highlights</a:t>
            </a:r>
          </a:p>
          <a:p>
            <a:endParaRPr lang="en-US" b="1" dirty="0"/>
          </a:p>
          <a:p>
            <a:r>
              <a:rPr lang="en-US" b="1" dirty="0"/>
              <a:t>Model 1 (Diabetes Prediction):</a:t>
            </a:r>
            <a:br>
              <a:rPr lang="en-US" dirty="0"/>
            </a:br>
            <a:r>
              <a:rPr lang="en-US" dirty="0"/>
              <a:t>Glucose had the highest impact; BMI + Age combined strengthened prediction accuracy.</a:t>
            </a:r>
          </a:p>
          <a:p>
            <a:r>
              <a:rPr lang="en-US" b="1" dirty="0"/>
              <a:t>Model 2 (BMI Category Prediction):</a:t>
            </a:r>
            <a:br>
              <a:rPr lang="en-US" dirty="0"/>
            </a:br>
            <a:r>
              <a:rPr lang="en-US" dirty="0"/>
              <a:t>Age played a major role in classifying BMI ranges; glucose and skin thickness added refinement.</a:t>
            </a:r>
          </a:p>
          <a:p>
            <a:r>
              <a:rPr lang="en-US" b="1" dirty="0"/>
              <a:t>Model 3 (Glucose Level Category):</a:t>
            </a:r>
            <a:br>
              <a:rPr lang="en-US" dirty="0"/>
            </a:br>
            <a:r>
              <a:rPr lang="en-US" dirty="0"/>
              <a:t>Insulin levels, BMI, and Age created distinct glucose risk groups (Normal → Very High).</a:t>
            </a:r>
          </a:p>
          <a:p>
            <a:r>
              <a:rPr lang="en-US" b="1" dirty="0"/>
              <a:t>Model 4 (Age Group Prediction):</a:t>
            </a:r>
            <a:br>
              <a:rPr lang="en-US" dirty="0"/>
            </a:br>
            <a:r>
              <a:rPr lang="en-US" dirty="0"/>
              <a:t>Pregnancies, BMI, and glucose effectively segmented Youth, Adult, Middle-Aged, and Senior groups.</a:t>
            </a:r>
          </a:p>
          <a:p>
            <a:r>
              <a:rPr lang="en-US" b="1" dirty="0"/>
              <a:t>Overall Insight</a:t>
            </a:r>
          </a:p>
          <a:p>
            <a:r>
              <a:rPr lang="en-US" dirty="0"/>
              <a:t>These CHAID models help in understanding health patterns, risk clusters, and patient profiles—providing actionable insights for early diagnosis and healthcare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9"/>
          <p:cNvSpPr txBox="1">
            <a:spLocks noGrp="1"/>
          </p:cNvSpPr>
          <p:nvPr>
            <p:ph type="title"/>
          </p:nvPr>
        </p:nvSpPr>
        <p:spPr>
          <a:xfrm>
            <a:off x="803820" y="1249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682" name="Google Shape;682;p49"/>
          <p:cNvSpPr txBox="1">
            <a:spLocks noGrp="1"/>
          </p:cNvSpPr>
          <p:nvPr>
            <p:ph type="subTitle" idx="3"/>
          </p:nvPr>
        </p:nvSpPr>
        <p:spPr>
          <a:xfrm>
            <a:off x="514350" y="1032964"/>
            <a:ext cx="8115300" cy="3767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Key Takeaways</a:t>
            </a:r>
          </a:p>
          <a:p>
            <a:endParaRPr lang="en-US" b="1" dirty="0"/>
          </a:p>
          <a:p>
            <a:r>
              <a:rPr lang="en-US" dirty="0"/>
              <a:t>The diabetes dataset was successfully analyzed using </a:t>
            </a:r>
            <a:r>
              <a:rPr lang="en-US" b="1" dirty="0"/>
              <a:t>CHAID Decision Tree Models</a:t>
            </a:r>
            <a:r>
              <a:rPr lang="en-US" dirty="0"/>
              <a:t>, offering strong interpretability and clear decision pathways.</a:t>
            </a:r>
          </a:p>
          <a:p>
            <a:r>
              <a:rPr lang="en-US" dirty="0"/>
              <a:t>Glucose, BMI, Age, and Insulin repeatedly showed strong influence, proving their importance in diabetes-related assessments.</a:t>
            </a:r>
          </a:p>
          <a:p>
            <a:r>
              <a:rPr lang="en-US" b="1" dirty="0"/>
              <a:t>Model Effectiveness</a:t>
            </a:r>
          </a:p>
          <a:p>
            <a:r>
              <a:rPr lang="en-US" dirty="0"/>
              <a:t>CHAID produced </a:t>
            </a:r>
            <a:r>
              <a:rPr lang="en-US" b="1" dirty="0"/>
              <a:t>easy-to-read decision flows</a:t>
            </a:r>
            <a:r>
              <a:rPr lang="en-US" dirty="0"/>
              <a:t>, making predictions transparent for doctors and health workers.</a:t>
            </a:r>
          </a:p>
          <a:p>
            <a:r>
              <a:rPr lang="en-US" dirty="0"/>
              <a:t>Multi-class predictions (BMI, Age Group, Glucose Category) were handled efficiently with meaningful splits.</a:t>
            </a:r>
          </a:p>
          <a:p>
            <a:r>
              <a:rPr lang="en-US" b="1" dirty="0"/>
              <a:t>Healthcare Value</a:t>
            </a:r>
          </a:p>
          <a:p>
            <a:r>
              <a:rPr lang="en-US" dirty="0"/>
              <a:t>These models can support </a:t>
            </a:r>
            <a:r>
              <a:rPr lang="en-US" b="1" dirty="0"/>
              <a:t>early risk detection</a:t>
            </a:r>
            <a:r>
              <a:rPr lang="en-US" dirty="0"/>
              <a:t>, patient segmentation, and personalized health planning.</a:t>
            </a:r>
          </a:p>
          <a:p>
            <a:r>
              <a:rPr lang="en-US" dirty="0"/>
              <a:t>Insights can be used for awareness programs, screening camps, hospital OPDs, and telemedicine applications.</a:t>
            </a:r>
          </a:p>
          <a:p>
            <a:r>
              <a:rPr lang="en-US" b="1" dirty="0"/>
              <a:t>Final Conclusion</a:t>
            </a:r>
          </a:p>
          <a:p>
            <a:r>
              <a:rPr lang="en-US" dirty="0"/>
              <a:t>This project demonstrates that CHAID models are powerful tools for medical analytics—offering accuracy, simplicity, and actionable insights that can assist in improving patient care and preventive health strategies.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6BC70-A282-3BC8-91FC-5F58FBD7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41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0"/>
          <p:cNvSpPr txBox="1">
            <a:spLocks noGrp="1"/>
          </p:cNvSpPr>
          <p:nvPr>
            <p:ph type="title"/>
          </p:nvPr>
        </p:nvSpPr>
        <p:spPr>
          <a:xfrm>
            <a:off x="720000" y="20833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ppy World Diabetes Day! by Slidesgo">
  <a:themeElements>
    <a:clrScheme name="Simple Light">
      <a:dk1>
        <a:srgbClr val="145858"/>
      </a:dk1>
      <a:lt1>
        <a:srgbClr val="E7F5F1"/>
      </a:lt1>
      <a:dk2>
        <a:srgbClr val="073838"/>
      </a:dk2>
      <a:lt2>
        <a:srgbClr val="1A8077"/>
      </a:lt2>
      <a:accent1>
        <a:srgbClr val="50ACB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On-screen Show (16:9)</PresentationFormat>
  <Paragraphs>93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Plus Jakarta Sans</vt:lpstr>
      <vt:lpstr>Bebas Neue</vt:lpstr>
      <vt:lpstr>Happy World Diabetes Day! by Slidesgo</vt:lpstr>
      <vt:lpstr>Predictive Modeling of Diabetes Using CHAID Decision Trees in SPSS Modeler Using IBM SPSS Modeler Presentation</vt:lpstr>
      <vt:lpstr>Project Brief</vt:lpstr>
      <vt:lpstr>Introduction</vt:lpstr>
      <vt:lpstr>Feasibility Study</vt:lpstr>
      <vt:lpstr>Dataset Details</vt:lpstr>
      <vt:lpstr>CHAID Model 1: Diabetes Prediction</vt:lpstr>
      <vt:lpstr>CHAID Model 2: BMI Category Prediction</vt:lpstr>
      <vt:lpstr>CHAID Model 3: Glucose Level Category Prediction</vt:lpstr>
      <vt:lpstr>CHAID Model 4: Age Group Prediction</vt:lpstr>
      <vt:lpstr>Feasibility Study</vt:lpstr>
      <vt:lpstr>Overall Model Findings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Somen Mandal</cp:lastModifiedBy>
  <cp:revision>1</cp:revision>
  <dcterms:modified xsi:type="dcterms:W3CDTF">2025-11-22T15:03:02Z</dcterms:modified>
</cp:coreProperties>
</file>